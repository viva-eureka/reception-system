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受付システムの保守引き継ぎ会用スライド（ドラフト）。本体の詳細は docs/maintenance-handover.md を参照。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9番目の『ドキュメント一覧』は最後にまとめて紹介します。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3つの運用リスク（ドメインPOST・GASアカウント依存・スキーマdrift）を強調して締める。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273270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273270"/>
          </a:solidFill>
          <a:ln/>
        </p:spPr>
      </p:sp>
      <p:sp>
        <p:nvSpPr>
          <p:cNvPr id="4" name="Shape 2"/>
          <p:cNvSpPr/>
          <p:nvPr/>
        </p:nvSpPr>
        <p:spPr>
          <a:xfrm>
            <a:off x="-1005840" y="4754880"/>
            <a:ext cx="2926080" cy="2926080"/>
          </a:xfrm>
          <a:prstGeom prst="ellipse">
            <a:avLst/>
          </a:prstGeom>
          <a:solidFill>
            <a:srgbClr val="27327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HANDOVER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受付システム 保守引き継ぎ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受付管理システム（ラクネコ代替）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377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E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対象：管理本部／情報システム部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E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株式会社ユリーカ ｜ 2026-08-27 ｜ v1.5.0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本日のアジェンダ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105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65392" y="18105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65392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55448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全体構成（アーキテクチャ）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29992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99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4320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デプロイと環境変数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09360" y="274320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65392" y="29992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65392" y="2999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274320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データベース（＋drift注意）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" y="418795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93192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外部連携（GAS）と運用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309360" y="393192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65392" y="418795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65392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393192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障害対応ランブック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" y="537667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4672" y="5376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12064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受け入れテスト結果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09360" y="512064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65392" y="537667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65392" y="5376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223760" y="512064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引き継ぎチェックリスト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システム概要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ラクネコ（受付SaaS）の代替として内製した受付管理システム。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 × Supabase × Vercel で構成。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651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受付端末（iPad）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9067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QR・名刺・音声・キーボードで受付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246888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2000" y="2651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Chat通知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09067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来訪をGoogle Chatへ即通知／対応・依頼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246888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66760" y="2651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招待状・QR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309067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カレンダー連携で招待状/QRを自動作成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480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会議室空き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91947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リソースカレンダーから空き状況を表示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43400" y="429768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72000" y="4480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入退館・監査ログ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491947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来訪履歴・監査ログ・CSV出力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38160" y="4297680"/>
            <a:ext cx="3566160" cy="1600200"/>
          </a:xfrm>
          <a:prstGeom prst="roundRect">
            <a:avLst>
              <a:gd name="adj" fmla="val 5143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66760" y="4480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491947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来訪状況の可視化（ラクネコに無い機能）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06640" y="1371600"/>
            <a:ext cx="4206240" cy="914400"/>
          </a:xfrm>
          <a:prstGeom prst="roundRect">
            <a:avLst>
              <a:gd name="adj" fmla="val 9000"/>
            </a:avLst>
          </a:prstGeom>
          <a:solidFill>
            <a:srgbClr val="1E2761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635240" y="1481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本番URL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635240" y="1737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reception-eureka.com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全体構成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7393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25880" y="1755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フロントエンド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408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index.html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066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受付端末＆管理コンソール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554480"/>
            <a:ext cx="356616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77393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20640" y="1755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3408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Serverless Functions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7066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通知・招待・ログ・会議室同期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56616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77393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15400" y="1755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3408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7066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全データ保存・RLSで保護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356616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8561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25880" y="37673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カレンダー連携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3525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Apps Script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71830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招待自動作成・会議室同期(15分)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43400" y="3566160"/>
            <a:ext cx="356616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378561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120640" y="37673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通知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3525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Chat (Webhook)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471830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来訪通知・対応/依頼ボタン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38160" y="3566160"/>
            <a:ext cx="356616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66760" y="378561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915400" y="37673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認証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43525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OAuth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71830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対応者/依頼者の本人識別（Workspace限定）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データの流れ（例）：iPad → Supabase(reception_visits) → /api/notify → Google Chat通知 → 「対応」ボタン → /api/handle・OAuth → reception_responders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&amp; ENV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デプロイと環境変数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デプロイの流れ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ブランチへの push を Vercel が自動デプロイ</a:t>
            </a:r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main マージがそのまま本番反映（1〜数分）</a:t>
            </a:r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PRごとにプレビューURLが自動生成（マージ前確認）</a:t>
            </a:r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PRに対するCIは無し（Actionsは vexa-agent のみ）</a:t>
            </a:r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反映が古い時はスーパーリロード（Ctrl/⌘+Shift+R）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92240" y="1737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環境変数（Vercel で管理・値はリポジトリに置かない）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331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SUPABASE_URL / SERVICE_ROLE_KEY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6060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DBアクセス（サーバー）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898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INVITATION_SECRET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17296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GAS↔API 認証（GASと一致必須）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34655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GOOGLE_CHAT_WEBHOOK_URL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73989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Chatグループ通知（フォールバック）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GOOGLE_OAUTH_CLIENT_ID / SECRET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30682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対応者OAuth認証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5994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RESEND_API_KEY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8737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PINリセット等のメール（任意）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5166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ANTHROPIC_API_KEY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54406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名刺OCR・音声解析（任意）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データベース（Supabase）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297680"/>
          </a:xfrm>
          <a:prstGeom prst="roundRect">
            <a:avLst>
              <a:gd name="adj" fmla="val 1915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主なテーブル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reception_visits … 入退館記録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reception_responders … 対応者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reception_invitations … 招待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reception_rooms / reception_room_availability … 会議室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reception_settings … 各種設定（KV/JSONB）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reception_staff / buttons / audit_logs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5394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RLS有効：ブラウザ=anon / サーバーAPI=service_role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4297680"/>
          </a:xfrm>
          <a:prstGeom prst="roundRect">
            <a:avLst>
              <a:gd name="adj" fmla="val 1915"/>
            </a:avLst>
          </a:prstGeom>
          <a:solidFill>
            <a:srgbClr val="FBF3E2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1783080"/>
            <a:ext cx="457200" cy="457200"/>
          </a:xfrm>
          <a:prstGeom prst="ellipse">
            <a:avLst/>
          </a:prstGeom>
          <a:solidFill>
            <a:srgbClr val="C8860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18105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重要：スキーマ drift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4688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本番Supabaseのスキーマは migrations/ より進んでいる（一部の列・テーブルは管理画面で直接適用）。</a:t>
            </a:r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例：reception_rooms.calendar_id、reception_room_availability、staff.notification_webhook、audit_logs.actor_name、visits.visit_purpose など。</a:t>
            </a:r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現行本番スキーマが「正」。migrationだけからの再構築は不可。移設時は本番ダンプを使う。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外部連携（Google Apps Script）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29768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主な関数（script.google.com）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onCalendarEventUpdated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社外ゲスト招待→招待状+QRメール（各自設定）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926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syncRoomAvailability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00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会議室空き状況を15分ごと同期（1名でOK）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611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syncRoomsToReception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886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会議室マスタ初回同期（手動1回）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297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setupTrigger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572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トリガー一括登録（手動1回）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9834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E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setSecretOnce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INVITATION_SECRET 保存（手動1回）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1554480"/>
            <a:ext cx="5303520" cy="4297680"/>
          </a:xfrm>
          <a:prstGeom prst="roundRect">
            <a:avLst>
              <a:gd name="adj" fmla="val 1915"/>
            </a:avLst>
          </a:prstGeom>
          <a:solidFill>
            <a:srgbClr val="FBF3E2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8368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運用上の依存・注意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28600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RECEPTION_URL は直URL（*.vercel.app）を使う。独自ドメインはリダイレクトでPOSTが405になる。</a:t>
            </a:r>
            <a:pPr indent="0" marL="0">
              <a:lnSpc>
                <a:spcPct val="115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syncRoomAvailability は設定者1名のアカウントで動作。退職・権限変更で停止 → 別担当で再設定。</a:t>
            </a:r>
            <a:pPr indent="0" marL="0">
              <a:lnSpc>
                <a:spcPct val="115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INVITATION_SECRET は Vercel と GAS で一致必須。</a:t>
            </a:r>
            <a:pPr indent="0" marL="0">
              <a:lnSpc>
                <a:spcPct val="115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連続失敗でGoogleがトリガーを自動無効化 → setupTrigger 再実行で復活。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障害対応ランブック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会議室が「同期データなし」→ Apps Script「実行数」で syncRoomAvailability を確認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974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21671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実行が無い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791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トリガー停止 → setupTrigger 再実行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10712" y="1965960"/>
            <a:ext cx="26974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93592" y="21671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93592" y="26791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RECEPTION_URL が独自ドメイン → 直URLに変更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72784" y="1965960"/>
            <a:ext cx="26974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55664" y="21671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6791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INVITATION_SECRET 不一致 → setSecretOnce で一致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34856" y="1965960"/>
            <a:ext cx="26974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317736" y="21671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9317736" y="26791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API/DB側 → スキーマ確認（開発担当へ）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1064240" cy="2057400"/>
          </a:xfrm>
          <a:prstGeom prst="roundRect">
            <a:avLst>
              <a:gd name="adj" fmla="val 4000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39502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その他のよくある事象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315968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Chat通知が来ない … reception_settings.google_chat_webhook（未設定時は環境変数にフォールバック）／個別DMは staff.notification_webhook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管理画面PINを忘れた … 管理画面のPINリセット（admin_email 宛にメール、要 RESEND_API_KEY）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招待QRが期限切れ … 来訪日が過去日だと無効（仕様）。過去日での作成は不可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対応者OAuthエラー … CLIENT_ID/SECRET・リダイレクトURI・Workspaceドメイン制限を確認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TEST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受け入れテスト結果（ラクネコ比較）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383280" cy="4297680"/>
          </a:xfrm>
          <a:prstGeom prst="roundRect">
            <a:avLst>
              <a:gd name="adj" fmla="val 2432"/>
            </a:avLst>
          </a:prstGeom>
          <a:solidFill>
            <a:srgbClr val="1E2761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94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受け入れテスト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完了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6576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E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要修正3件すべて対応済み／残差異はOK・許容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1554480"/>
            <a:ext cx="7406640" cy="960120"/>
          </a:xfrm>
          <a:prstGeom prst="roundRect">
            <a:avLst>
              <a:gd name="adj" fmla="val 8571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434840" y="1810512"/>
            <a:ext cx="457200" cy="457200"/>
          </a:xfrm>
          <a:prstGeom prst="ellipse">
            <a:avLst/>
          </a:prstGeom>
          <a:solidFill>
            <a:srgbClr val="2C7A4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3484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168249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任意期間検索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2057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入退館記録に開始日〜終了日の指定を追加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06240" y="2651760"/>
            <a:ext cx="7406640" cy="960120"/>
          </a:xfrm>
          <a:prstGeom prst="roundRect">
            <a:avLst>
              <a:gd name="adj" fmla="val 8571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34840" y="2907792"/>
            <a:ext cx="457200" cy="457200"/>
          </a:xfrm>
          <a:prstGeom prst="ellipse">
            <a:avLst/>
          </a:prstGeom>
          <a:solidFill>
            <a:srgbClr val="2C7A4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3484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27797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お知らせ表示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管理画面で設定 → 待ち受け画面に表示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06240" y="3749040"/>
            <a:ext cx="7406640" cy="960120"/>
          </a:xfrm>
          <a:prstGeom prst="roundRect">
            <a:avLst>
              <a:gd name="adj" fmla="val 8571"/>
            </a:avLst>
          </a:prstGeom>
          <a:solidFill>
            <a:srgbClr val="EEF2FB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34840" y="4005072"/>
            <a:ext cx="457200" cy="457200"/>
          </a:xfrm>
          <a:prstGeom prst="ellipse">
            <a:avLst/>
          </a:prstGeom>
          <a:solidFill>
            <a:srgbClr val="2C7A4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434840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74920" y="387705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退館日時の表示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4251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入退館記録に列追加（CSV反映）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502920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ゴール：ラクネコと同一仕様ではなく、現在の受付業務が新システムで問題なく行えること。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引き継ぎチェックリスト（アクセス移管）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0195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1728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1031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プロジェクトのメンバー追加（デプロイ・環境変数）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355080" y="160020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190195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0" y="1728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21031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メンバー追加（DB・RLS・バックアップ）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04495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25880" y="2871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2461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リポジトリ権限付与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55080" y="274320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304495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0" y="2871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Apps Script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0" y="32461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プロジェクト共有／トリガー実行者の引き継ぎ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18795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25880" y="4014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Chat / OAuth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3891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Webhook・スペース／OAuthクライアント管理権限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55080" y="388620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83680" y="418795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32320" y="4014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独自ドメイン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43891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reception-eureka.com のDNS/Vercel設定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533095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2588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 / Anthropic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325880" y="55321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APIキー管理（利用時）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355080" y="502920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F4F7FC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0" y="533095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13232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本番スキーマ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132320" y="55321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Supabaseスキーマのダンプを保管（drift対策）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ドキュメント一覧（docs/）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成果物・経緯・保守情報はコードと同じGitで一元管理（docs/README.md が入口）。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13969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49631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ドキュメント索引（目次ページ）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201168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11112" y="213969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maintenance-handover.md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49631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保守引き継ぎ資料（構成・ランブック・移管）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90672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04672" y="321868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history-and-decisions.md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575304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経緯・意思決定記録（なぜ今こうか）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3090672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611112" y="321868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acceptance-test.md ＋ 比較表.xlsx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611112" y="3575304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受け入れテスト結果・原本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169664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4672" y="4297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changelog.md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465429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リリースノート（v1.5.0）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9664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611112" y="4297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startup-guide-*.md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4654296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導入・カレンダー連携セットアップ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248656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04672" y="537667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requirements.md / user-scenarios.md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573328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要件・利用シナリオ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55080" y="5248656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6C0">
                <a:alpha val="2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611112" y="537667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help-qa-tips.md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11112" y="573328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ヘルプ・Q&amp;A・Tips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188720"/>
            <a:ext cx="4023360" cy="4023360"/>
          </a:xfrm>
          <a:prstGeom prst="ellipse">
            <a:avLst/>
          </a:prstGeom>
          <a:solidFill>
            <a:srgbClr val="27327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引き継ぎのポイント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28600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独自ドメインのPOSTは405 … GASは *.vercel.app 直URLを使う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68680" y="315468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315468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会議室同期は1名のアカウント依存 … 保守担当で再設定できるように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68680" y="40233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402336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スキーマは本番Supabaseが正 … 再構築は本番ダンプから（migration不足）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3492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E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 docs/README.md → maintenance-handover.md（障害対応ランブック）を参照。ご不明点はこの引き継ぎ会でお気軽に。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受付システム 保守引き継ぎ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2026-08-27T07:50:19Z</dcterms:created>
  <dcterms:modified xsi:type="dcterms:W3CDTF">2026-08-27T07:50:19Z</dcterms:modified>
</cp:coreProperties>
</file>